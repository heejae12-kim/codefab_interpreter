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e920f5566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ee920f5566_1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e920f5566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ee920f5566_1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cffa5a5ce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ecffa5a5ce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e920f556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ee920f5566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e920f55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ee920f556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e920f556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e920f5566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e920f556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ee920f5566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e920f556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e920f5566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e920f556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ee920f5566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cffa5a5ce_6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ecffa5a5ce_6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a67167044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ea67167044_2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e920f5566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ee920f5566_1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e920f5566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ee920f5566_3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e920f5566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ee920f5566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e920f5566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ee920f5566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e920f5566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ee920f5566_1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e920f5566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e920f5566_1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cffa5a5ce_6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ecffa5a5ce_6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cffa5a5ce_6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ecffa5a5ce_6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cffa5a5ce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ecffa5a5ce_7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cffa5a5ce_6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ecffa5a5ce_6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" type="body"/>
          </p:nvPr>
        </p:nvSpPr>
        <p:spPr>
          <a:xfrm>
            <a:off x="7671999" y="5301208"/>
            <a:ext cx="3987692" cy="88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  <a:defRPr b="0" sz="15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>
                <a:solidFill>
                  <a:srgbClr val="7F7F7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618827" y="321810"/>
            <a:ext cx="179427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Create your value </a:t>
            </a:r>
            <a:endParaRPr b="1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14;p2"/>
          <p:cNvSpPr txBox="1"/>
          <p:nvPr>
            <p:ph idx="2" type="body"/>
          </p:nvPr>
        </p:nvSpPr>
        <p:spPr>
          <a:xfrm>
            <a:off x="1329231" y="1952626"/>
            <a:ext cx="6317711" cy="1260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107692" y="1513269"/>
            <a:ext cx="6785846" cy="3239999"/>
            <a:chOff x="900000" y="1513268"/>
            <a:chExt cx="5513500" cy="3239999"/>
          </a:xfrm>
        </p:grpSpPr>
        <p:grpSp>
          <p:nvGrpSpPr>
            <p:cNvPr id="16" name="Google Shape;16;p2"/>
            <p:cNvGrpSpPr/>
            <p:nvPr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5AB4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21" name="Google Shape;21;p2"/>
              <p:cNvGrpSpPr/>
              <p:nvPr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</p:grpSpPr>
            <p:sp>
              <p:nvSpPr>
                <p:cNvPr id="22" name="Google Shape;22;p2"/>
                <p:cNvSpPr/>
                <p:nvPr/>
              </p:nvSpPr>
              <p:spPr>
                <a:xfrm rot="-5400000">
                  <a:off x="2430000" y="-16731"/>
                  <a:ext cx="180000" cy="3240000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24" name="Google Shape;24;p2"/>
              <p:cNvSpPr/>
              <p:nvPr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25" name="Google Shape;25;p2"/>
          <p:cNvSpPr txBox="1"/>
          <p:nvPr>
            <p:ph idx="3" type="body"/>
          </p:nvPr>
        </p:nvSpPr>
        <p:spPr>
          <a:xfrm>
            <a:off x="1329231" y="3356992"/>
            <a:ext cx="6317711" cy="72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b="1" sz="200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4" type="body"/>
          </p:nvPr>
        </p:nvSpPr>
        <p:spPr>
          <a:xfrm>
            <a:off x="7671999" y="4928089"/>
            <a:ext cx="3987692" cy="373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0" sz="16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>
                <a:solidFill>
                  <a:srgbClr val="7F7F7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슬라이드">
  <p:cSld name="2_제목 슬라이드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>
            <a:off x="605980" y="310143"/>
            <a:ext cx="10515600" cy="6498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/>
          <p:nvPr/>
        </p:nvSpPr>
        <p:spPr>
          <a:xfrm>
            <a:off x="373750" y="327899"/>
            <a:ext cx="232230" cy="635235"/>
          </a:xfrm>
          <a:prstGeom prst="rect">
            <a:avLst/>
          </a:prstGeom>
          <a:solidFill>
            <a:srgbClr val="005A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605980" y="1316376"/>
            <a:ext cx="10515600" cy="4927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1" name="Google Shape;31;p3"/>
          <p:cNvCxnSpPr/>
          <p:nvPr/>
        </p:nvCxnSpPr>
        <p:spPr>
          <a:xfrm>
            <a:off x="720725" y="960002"/>
            <a:ext cx="1147127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body"/>
          </p:nvPr>
        </p:nvSpPr>
        <p:spPr>
          <a:xfrm>
            <a:off x="1632000" y="1860184"/>
            <a:ext cx="8928000" cy="253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4" name="Google Shape;34;p4"/>
          <p:cNvGrpSpPr/>
          <p:nvPr/>
        </p:nvGrpSpPr>
        <p:grpSpPr>
          <a:xfrm>
            <a:off x="1107688" y="1500183"/>
            <a:ext cx="10145030" cy="3253087"/>
            <a:chOff x="899998" y="1500182"/>
            <a:chExt cx="5513502" cy="3253087"/>
          </a:xfrm>
        </p:grpSpPr>
        <p:sp>
          <p:nvSpPr>
            <p:cNvPr id="35" name="Google Shape;35;p4"/>
            <p:cNvSpPr/>
            <p:nvPr/>
          </p:nvSpPr>
          <p:spPr>
            <a:xfrm>
              <a:off x="899999" y="1513268"/>
              <a:ext cx="58695" cy="1080000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36" name="Google Shape;36;p4"/>
            <p:cNvGrpSpPr/>
            <p:nvPr/>
          </p:nvGrpSpPr>
          <p:grpSpPr>
            <a:xfrm>
              <a:off x="899998" y="1500182"/>
              <a:ext cx="5513502" cy="3253087"/>
              <a:chOff x="899998" y="1500182"/>
              <a:chExt cx="5513502" cy="3253087"/>
            </a:xfrm>
          </p:grpSpPr>
          <p:grpSp>
            <p:nvGrpSpPr>
              <p:cNvPr id="37" name="Google Shape;37;p4"/>
              <p:cNvGrpSpPr/>
              <p:nvPr/>
            </p:nvGrpSpPr>
            <p:grpSpPr>
              <a:xfrm>
                <a:off x="899998" y="1500182"/>
                <a:ext cx="5513502" cy="3253087"/>
                <a:chOff x="899999" y="1500182"/>
                <a:chExt cx="3240002" cy="3253087"/>
              </a:xfrm>
            </p:grpSpPr>
            <p:sp>
              <p:nvSpPr>
                <p:cNvPr id="38" name="Google Shape;38;p4"/>
                <p:cNvSpPr/>
                <p:nvPr/>
              </p:nvSpPr>
              <p:spPr>
                <a:xfrm rot="-5400000">
                  <a:off x="1880752" y="519429"/>
                  <a:ext cx="108000" cy="2069506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39" name="Google Shape;39;p4"/>
                <p:cNvSpPr/>
                <p:nvPr/>
              </p:nvSpPr>
              <p:spPr>
                <a:xfrm rot="5400000">
                  <a:off x="3051247" y="3664515"/>
                  <a:ext cx="108000" cy="2069507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40" name="Google Shape;40;p4"/>
              <p:cNvSpPr/>
              <p:nvPr/>
            </p:nvSpPr>
            <p:spPr>
              <a:xfrm rot="10800000">
                <a:off x="6354805" y="3673267"/>
                <a:ext cx="58695" cy="108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1_사용자 지정 레이아웃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heejae12-kim/CodeFab_Interpreter/pull/2/changes/056b9d6f53c19d34455e7b44d0da9a09bb44a832#r3353014975" TargetMode="External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heejae12-kim/CodeFab_Interpreter/pull/2#discussion_r3353068245" TargetMode="External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heejae12-kim/CodeFab_Interpreter/pull/21" TargetMode="External"/><Relationship Id="rId4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body"/>
          </p:nvPr>
        </p:nvSpPr>
        <p:spPr>
          <a:xfrm>
            <a:off x="8982100" y="5301200"/>
            <a:ext cx="28953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lang="ko-KR">
                <a:solidFill>
                  <a:srgbClr val="00E676"/>
                </a:solidFill>
              </a:rPr>
              <a:t>팀장: 김희재</a:t>
            </a:r>
            <a:endParaRPr>
              <a:solidFill>
                <a:srgbClr val="00E676"/>
              </a:solidFill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lang="ko-KR">
                <a:solidFill>
                  <a:srgbClr val="00E676"/>
                </a:solidFill>
              </a:rPr>
              <a:t>팀원: 김희수/양진규/최호석</a:t>
            </a:r>
            <a:endParaRPr>
              <a:solidFill>
                <a:srgbClr val="00E676"/>
              </a:solidFill>
            </a:endParaRPr>
          </a:p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1329231" y="1952626"/>
            <a:ext cx="6317711" cy="1260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>
                <a:solidFill>
                  <a:srgbClr val="00E676"/>
                </a:solidFill>
              </a:rPr>
              <a:t>CodeFab Interpreter</a:t>
            </a:r>
            <a:endParaRPr/>
          </a:p>
        </p:txBody>
      </p:sp>
      <p:sp>
        <p:nvSpPr>
          <p:cNvPr id="48" name="Google Shape;48;p6"/>
          <p:cNvSpPr txBox="1"/>
          <p:nvPr>
            <p:ph idx="3" type="body"/>
          </p:nvPr>
        </p:nvSpPr>
        <p:spPr>
          <a:xfrm>
            <a:off x="1329231" y="3356992"/>
            <a:ext cx="6317711" cy="72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lang="ko-KR">
                <a:solidFill>
                  <a:srgbClr val="58A6FF"/>
                </a:solidFill>
              </a:rPr>
              <a:t>Agent A조 · 3주차 프로젝트 발표</a:t>
            </a:r>
            <a:endParaRPr/>
          </a:p>
        </p:txBody>
      </p:sp>
      <p:sp>
        <p:nvSpPr>
          <p:cNvPr id="49" name="Google Shape;49;p6"/>
          <p:cNvSpPr txBox="1"/>
          <p:nvPr>
            <p:ph idx="4" type="body"/>
          </p:nvPr>
        </p:nvSpPr>
        <p:spPr>
          <a:xfrm>
            <a:off x="7671999" y="4928089"/>
            <a:ext cx="3987692" cy="373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228600" lvl="0" marL="45720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</a:pPr>
            <a:r>
              <a:rPr lang="ko-KR">
                <a:solidFill>
                  <a:srgbClr val="C9D1D9"/>
                </a:solidFill>
              </a:rPr>
              <a:t>2026-06-09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605980" y="310143"/>
            <a:ext cx="10515600" cy="6498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목차</a:t>
            </a:r>
            <a:endParaRPr b="1"/>
          </a:p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605980" y="1316376"/>
            <a:ext cx="10515600" cy="4927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ko-KR" sz="3000">
                <a:solidFill>
                  <a:srgbClr val="C9D1D9"/>
                </a:solidFill>
              </a:rPr>
              <a:t>1. 조원 소개 및 역할</a:t>
            </a:r>
            <a:endParaRPr b="1" sz="3000">
              <a:solidFill>
                <a:srgbClr val="C9D1D9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C9D1D9"/>
              </a:solidFill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ko-KR" sz="3000">
                <a:solidFill>
                  <a:srgbClr val="C9D1D9"/>
                </a:solidFill>
              </a:rPr>
              <a:t>2. 기능 구현 소개 (구조 설계 포함)</a:t>
            </a:r>
            <a:endParaRPr b="1" sz="3000">
              <a:solidFill>
                <a:srgbClr val="C9D1D9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C9D1D9"/>
              </a:solidFill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ko-KR" sz="3000">
                <a:solidFill>
                  <a:srgbClr val="C9D1D9"/>
                </a:solidFill>
              </a:rPr>
              <a:t>3. Best Practice 사례</a:t>
            </a:r>
            <a:endParaRPr b="1" sz="3000">
              <a:solidFill>
                <a:srgbClr val="C9D1D9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C9D1D9"/>
              </a:solidFill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ko-KR" sz="3000">
                <a:solidFill>
                  <a:srgbClr val="C9D1D9"/>
                </a:solidFill>
              </a:rPr>
              <a:t>4. 프로젝트 시연</a:t>
            </a:r>
            <a:endParaRPr b="1" sz="3000">
              <a:solidFill>
                <a:srgbClr val="C9D1D9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C9D1D9"/>
              </a:solidFill>
            </a:endParaRPr>
          </a:p>
          <a:p>
            <a:pPr indent="-41910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ko-KR" sz="3000">
                <a:solidFill>
                  <a:srgbClr val="C9D1D9"/>
                </a:solidFill>
              </a:rPr>
              <a:t>5. 소감</a:t>
            </a:r>
            <a:endParaRPr b="1"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" type="body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sz="5000">
                <a:solidFill>
                  <a:srgbClr val="00E676"/>
                </a:solidFill>
              </a:rPr>
              <a:t>조원 소개 및 역할</a:t>
            </a:r>
            <a:endParaRPr sz="5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type="title"/>
          </p:nvPr>
        </p:nvSpPr>
        <p:spPr>
          <a:xfrm>
            <a:off x="605980" y="310143"/>
            <a:ext cx="10515600" cy="6498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1-1. 조원 소개 - 양진규 (Lexer 담당)</a:t>
            </a:r>
            <a:endParaRPr b="1"/>
          </a:p>
        </p:txBody>
      </p:sp>
      <p:sp>
        <p:nvSpPr>
          <p:cNvPr id="66" name="Google Shape;66;p9"/>
          <p:cNvSpPr txBox="1"/>
          <p:nvPr>
            <p:ph idx="1" type="body"/>
          </p:nvPr>
        </p:nvSpPr>
        <p:spPr>
          <a:xfrm>
            <a:off x="605980" y="1316376"/>
            <a:ext cx="10515600" cy="4927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▸</a:t>
            </a:r>
            <a:r>
              <a:rPr lang="ko-KR">
                <a:solidFill>
                  <a:srgbClr val="C9D1D9"/>
                </a:solidFill>
              </a:rPr>
              <a:t>한 줄 소개</a:t>
            </a:r>
            <a:endParaRPr>
              <a:solidFill>
                <a:srgbClr val="C9D1D9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SSD F/W </a:t>
            </a:r>
            <a:r>
              <a:rPr lang="ko-KR">
                <a:solidFill>
                  <a:srgbClr val="C9D1D9"/>
                </a:solidFill>
              </a:rPr>
              <a:t>개발자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▸담당</a:t>
            </a:r>
            <a:endParaRPr>
              <a:solidFill>
                <a:srgbClr val="C9D1D9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Assembler Unit · 토큰화(Tokenizing, Lexer)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▸주요 구현 내용</a:t>
            </a:r>
            <a:endParaRPr>
              <a:solidFill>
                <a:srgbClr val="C9D1D9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사용자가 입력한 문자열을 의미 있는 단위인 </a:t>
            </a:r>
            <a:r>
              <a:rPr b="1" lang="ko-KR">
                <a:solidFill>
                  <a:srgbClr val="00E676"/>
                </a:solidFill>
              </a:rPr>
              <a:t>token 단위로 변환</a:t>
            </a:r>
            <a:r>
              <a:rPr lang="ko-KR">
                <a:solidFill>
                  <a:srgbClr val="C9D1D9"/>
                </a:solidFill>
              </a:rPr>
              <a:t>함</a:t>
            </a:r>
            <a:endParaRPr>
              <a:solidFill>
                <a:srgbClr val="C9D1D9"/>
              </a:solidFill>
            </a:endParaRPr>
          </a:p>
          <a:p>
            <a: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주요 목적은 입력 받은 단위가 ‘keyword’ 인지, ‘숫자’ 인지, ‘연산자’ 인지 구분하기 위한 module</a:t>
            </a:r>
            <a:endParaRPr>
              <a:solidFill>
                <a:srgbClr val="C9D1D9"/>
              </a:solidFill>
            </a:endParaRPr>
          </a:p>
          <a:p>
            <a: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만들어진 Token vector 를 Parser 에게 전달하여 구조 분석을 요청함.</a:t>
            </a:r>
            <a:endParaRPr>
              <a:solidFill>
                <a:srgbClr val="C9D1D9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Debug Mode Shell Module 구현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605980" y="310143"/>
            <a:ext cx="10515600" cy="6498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1-2. 조원 소개 - 김희수 (Parser 담당)</a:t>
            </a:r>
            <a:endParaRPr b="1"/>
          </a:p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605980" y="1316376"/>
            <a:ext cx="10515600" cy="4927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▸한 줄 소개</a:t>
            </a:r>
            <a:endParaRPr>
              <a:solidFill>
                <a:srgbClr val="C9D1D9"/>
              </a:solidFill>
            </a:endParaRPr>
          </a:p>
          <a:p>
            <a:pPr indent="-3175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ko-KR" sz="2000">
                <a:solidFill>
                  <a:srgbClr val="C9D1D9"/>
                </a:solidFill>
              </a:rPr>
              <a:t>이종 메모리 응용 발굴 및 </a:t>
            </a:r>
            <a:r>
              <a:rPr lang="ko-KR">
                <a:solidFill>
                  <a:srgbClr val="C9D1D9"/>
                </a:solidFill>
              </a:rPr>
              <a:t>Linux</a:t>
            </a:r>
            <a:r>
              <a:rPr lang="ko-KR" sz="2000">
                <a:solidFill>
                  <a:srgbClr val="C9D1D9"/>
                </a:solidFill>
              </a:rPr>
              <a:t> kernel-level </a:t>
            </a:r>
            <a:r>
              <a:rPr lang="ko-KR">
                <a:solidFill>
                  <a:srgbClr val="C9D1D9"/>
                </a:solidFill>
              </a:rPr>
              <a:t>개발</a:t>
            </a:r>
            <a:r>
              <a:rPr lang="ko-KR" sz="2000">
                <a:solidFill>
                  <a:srgbClr val="C9D1D9"/>
                </a:solidFill>
              </a:rPr>
              <a:t>(</a:t>
            </a:r>
            <a:r>
              <a:rPr lang="ko-KR">
                <a:solidFill>
                  <a:srgbClr val="C9D1D9"/>
                </a:solidFill>
              </a:rPr>
              <a:t>device enabling)</a:t>
            </a:r>
            <a:r>
              <a:rPr lang="ko-KR" sz="2000">
                <a:solidFill>
                  <a:srgbClr val="C9D1D9"/>
                </a:solidFill>
              </a:rPr>
              <a:t>.</a:t>
            </a:r>
            <a:endParaRPr>
              <a:solidFill>
                <a:srgbClr val="C9D1D9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▸담</a:t>
            </a:r>
            <a:r>
              <a:rPr lang="ko-KR">
                <a:solidFill>
                  <a:srgbClr val="C9D1D9"/>
                </a:solidFill>
              </a:rPr>
              <a:t>당</a:t>
            </a:r>
            <a:endParaRPr>
              <a:solidFill>
                <a:srgbClr val="C9D1D9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Assembler Unit · 구문 분석(Parser)</a:t>
            </a:r>
            <a:endParaRPr sz="2000">
              <a:solidFill>
                <a:srgbClr val="C9D1D9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▸주요 구현 내용</a:t>
            </a:r>
            <a:endParaRPr>
              <a:solidFill>
                <a:srgbClr val="C9D1D9"/>
              </a:solidFill>
            </a:endParaRPr>
          </a:p>
          <a:p>
            <a:pPr indent="-3175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ko-KR">
                <a:solidFill>
                  <a:srgbClr val="C9D1D9"/>
                </a:solidFill>
              </a:rPr>
              <a:t>Assembler Unit에서 Token의 종류를 나누어 </a:t>
            </a:r>
            <a:r>
              <a:rPr b="1" lang="ko-KR">
                <a:solidFill>
                  <a:srgbClr val="00E676"/>
                </a:solidFill>
              </a:rPr>
              <a:t>Abstract Syntax Tree를 구성</a:t>
            </a:r>
            <a:r>
              <a:rPr lang="ko-KR">
                <a:solidFill>
                  <a:srgbClr val="C9D1D9"/>
                </a:solidFill>
              </a:rPr>
              <a:t>함.</a:t>
            </a:r>
            <a:endParaRPr>
              <a:solidFill>
                <a:srgbClr val="C9D1D9"/>
              </a:solidFill>
            </a:endParaRPr>
          </a:p>
          <a:p>
            <a: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Tree를 구성하며 Parse 시 발생하는 문법 오류를 검사</a:t>
            </a:r>
            <a:endParaRPr>
              <a:solidFill>
                <a:srgbClr val="C9D1D9"/>
              </a:solidFill>
            </a:endParaRPr>
          </a:p>
          <a:p>
            <a: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Statement, Expression 종류마다 다른 class로 생성하여 추후 visitor로 처리</a:t>
            </a:r>
            <a:endParaRPr>
              <a:solidFill>
                <a:srgbClr val="C9D1D9"/>
              </a:solidFill>
            </a:endParaRPr>
          </a:p>
          <a:p>
            <a: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연산 우선 순위를 고려하여 AST를 구성</a:t>
            </a:r>
            <a:endParaRPr>
              <a:solidFill>
                <a:srgbClr val="C9D1D9"/>
              </a:solidFill>
            </a:endParaRPr>
          </a:p>
          <a:p>
            <a:pPr indent="-3175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ko-KR">
                <a:solidFill>
                  <a:srgbClr val="C9D1D9"/>
                </a:solidFill>
              </a:rPr>
              <a:t>문법 및 프로그램 사용법을 정리한 MANUAL.md 작성함.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605980" y="310143"/>
            <a:ext cx="10515600" cy="6498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1-3. 조원 소개 - 최호석 (Checker 담당)</a:t>
            </a:r>
            <a:endParaRPr b="1"/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605980" y="1316376"/>
            <a:ext cx="10515600" cy="4927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▸</a:t>
            </a:r>
            <a:r>
              <a:rPr lang="ko-KR">
                <a:solidFill>
                  <a:srgbClr val="C9D1D9"/>
                </a:solidFill>
              </a:rPr>
              <a:t>한 줄 소개</a:t>
            </a:r>
            <a:endParaRPr>
              <a:solidFill>
                <a:srgbClr val="C9D1D9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Sensor Solution </a:t>
            </a:r>
            <a:r>
              <a:rPr lang="ko-KR">
                <a:solidFill>
                  <a:srgbClr val="C9D1D9"/>
                </a:solidFill>
              </a:rPr>
              <a:t>팀에서 CIS Test Platform 개발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▸담당</a:t>
            </a:r>
            <a:endParaRPr>
              <a:solidFill>
                <a:srgbClr val="C9D1D9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Checker Unit </a:t>
            </a:r>
            <a:r>
              <a:rPr lang="ko-KR">
                <a:solidFill>
                  <a:srgbClr val="C9D1D9"/>
                </a:solidFill>
              </a:rPr>
              <a:t>· </a:t>
            </a:r>
            <a:r>
              <a:rPr lang="ko-KR">
                <a:solidFill>
                  <a:srgbClr val="C9D1D9"/>
                </a:solidFill>
              </a:rPr>
              <a:t>의미 검사 / 최적화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▸주요 구현 내용</a:t>
            </a:r>
            <a:r>
              <a:rPr lang="ko-KR">
                <a:solidFill>
                  <a:srgbClr val="C9D1D9"/>
                </a:solidFill>
              </a:rPr>
              <a:t> </a:t>
            </a:r>
            <a:endParaRPr>
              <a:solidFill>
                <a:srgbClr val="C9D1D9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Checker Unit의 기본적인 기능 및 하기 최적화 기능 개발</a:t>
            </a:r>
            <a:endParaRPr>
              <a:solidFill>
                <a:srgbClr val="C9D1D9"/>
              </a:solidFill>
            </a:endParaRPr>
          </a:p>
          <a:p>
            <a: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E676"/>
              </a:buClr>
              <a:buSzPts val="1800"/>
              <a:buChar char="•"/>
            </a:pPr>
            <a:r>
              <a:rPr b="1" lang="ko-KR">
                <a:solidFill>
                  <a:srgbClr val="00E676"/>
                </a:solidFill>
              </a:rPr>
              <a:t>의미상 오류 검사</a:t>
            </a:r>
            <a:endParaRPr b="1">
              <a:solidFill>
                <a:srgbClr val="00E676"/>
              </a:solidFill>
            </a:endParaRPr>
          </a:p>
          <a:p>
            <a: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정적 바인딩을 위한 기능 추가 (distance 연산 및 저장)</a:t>
            </a:r>
            <a:endParaRPr>
              <a:solidFill>
                <a:srgbClr val="C9D1D9"/>
              </a:solidFill>
            </a:endParaRPr>
          </a:p>
          <a:p>
            <a: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상수 연산 최적화 (Literal 상수에 대한 tree 최적화)</a:t>
            </a:r>
            <a:endParaRPr>
              <a:solidFill>
                <a:srgbClr val="C9D1D9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Shell 모드 구조 설계 및 REFL, file load mode 개발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605980" y="310143"/>
            <a:ext cx="10515600" cy="6498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1-4. 조원 소개 - 김희재 (Executor 담당)</a:t>
            </a:r>
            <a:endParaRPr b="1"/>
          </a:p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>
            <a:off x="605975" y="1316375"/>
            <a:ext cx="112503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▸</a:t>
            </a:r>
            <a:r>
              <a:rPr lang="ko-KR">
                <a:solidFill>
                  <a:srgbClr val="C9D1D9"/>
                </a:solidFill>
              </a:rPr>
              <a:t>한 줄 소개</a:t>
            </a:r>
            <a:endParaRPr>
              <a:solidFill>
                <a:srgbClr val="C9D1D9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Connectivity</a:t>
            </a:r>
            <a:r>
              <a:rPr lang="ko-KR">
                <a:solidFill>
                  <a:srgbClr val="C9D1D9"/>
                </a:solidFill>
              </a:rPr>
              <a:t>개발팀에서 UWB FW 및 Automotive SPICE 담당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▸담당</a:t>
            </a:r>
            <a:endParaRPr>
              <a:solidFill>
                <a:srgbClr val="C9D1D9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Executor Unit · 트리 실행(Interpreter)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▸주요 구현 내용</a:t>
            </a:r>
            <a:endParaRPr>
              <a:solidFill>
                <a:srgbClr val="C9D1D9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Interpreter: Visitor로 Expr/Stmt 트리 </a:t>
            </a:r>
            <a:r>
              <a:rPr b="1" lang="ko-KR">
                <a:solidFill>
                  <a:srgbClr val="00E676"/>
                </a:solidFill>
              </a:rPr>
              <a:t>평가 및 실행</a:t>
            </a:r>
            <a:endParaRPr b="1">
              <a:solidFill>
                <a:srgbClr val="00E676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Environment 스코프 체인(부모 탐색) + RuntimeError(줄번호) 처리</a:t>
            </a:r>
            <a:endParaRPr>
              <a:solidFill>
                <a:srgbClr val="C9D1D9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연산자 평가: 산술·비교·논리(and/or)·단항(!,-)·단축평가</a:t>
            </a:r>
            <a:endParaRPr>
              <a:solidFill>
                <a:srgbClr val="C9D1D9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함수 실행(클로저+return unwind·재귀) / 배열(Array·인덱스 get/set)</a:t>
            </a:r>
            <a:endParaRPr>
              <a:solidFill>
                <a:srgbClr val="C9D1D9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Callable(Interpreter 패턴) 통합 · 정적 바인딩 · 디버그</a:t>
            </a:r>
            <a:endParaRPr>
              <a:solidFill>
                <a:srgbClr val="C9D1D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9D1D9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sz="5000">
                <a:solidFill>
                  <a:srgbClr val="00E676"/>
                </a:solidFill>
              </a:rPr>
              <a:t>기능 구현 소개</a:t>
            </a:r>
            <a:endParaRPr sz="5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2. 기능 구현 소개 - 전체 구조</a:t>
            </a:r>
            <a:endParaRPr b="1"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373" y="1112343"/>
            <a:ext cx="9453255" cy="5593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2-1. 기능 구현 - OOP</a:t>
            </a:r>
            <a:endParaRPr b="1"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400">
                <a:solidFill>
                  <a:srgbClr val="C9D1D9"/>
                </a:solidFill>
              </a:rPr>
              <a:t>모든 Object에 대하여 </a:t>
            </a:r>
            <a:r>
              <a:rPr b="1" lang="ko-KR" sz="2400">
                <a:solidFill>
                  <a:srgbClr val="00E676"/>
                </a:solidFill>
              </a:rPr>
              <a:t>g</a:t>
            </a:r>
            <a:r>
              <a:rPr b="1" lang="ko-KR" sz="2400">
                <a:solidFill>
                  <a:srgbClr val="00E676"/>
                </a:solidFill>
              </a:rPr>
              <a:t>etter와</a:t>
            </a:r>
            <a:r>
              <a:rPr lang="ko-KR" sz="2400">
                <a:solidFill>
                  <a:srgbClr val="00E676"/>
                </a:solidFill>
              </a:rPr>
              <a:t> </a:t>
            </a:r>
            <a:r>
              <a:rPr b="1" lang="ko-KR" sz="2400">
                <a:solidFill>
                  <a:srgbClr val="00E676"/>
                </a:solidFill>
              </a:rPr>
              <a:t>setter</a:t>
            </a:r>
            <a:r>
              <a:rPr lang="ko-KR" sz="2400">
                <a:solidFill>
                  <a:srgbClr val="C9D1D9"/>
                </a:solidFill>
              </a:rPr>
              <a:t>를 사용</a:t>
            </a:r>
            <a:endParaRPr sz="2400">
              <a:solidFill>
                <a:srgbClr val="C9D1D9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E676"/>
              </a:buClr>
              <a:buSzPts val="2000"/>
              <a:buChar char="•"/>
            </a:pPr>
            <a:r>
              <a:rPr b="1" lang="ko-KR" sz="2000">
                <a:solidFill>
                  <a:srgbClr val="00E676"/>
                </a:solidFill>
              </a:rPr>
              <a:t>외부에서의 직접 접근을 방지</a:t>
            </a:r>
            <a:endParaRPr b="1" sz="2000">
              <a:solidFill>
                <a:srgbClr val="00E676"/>
              </a:solidFill>
            </a:endParaRPr>
          </a:p>
          <a:p>
            <a:pPr indent="-317500" lvl="2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000">
                <a:solidFill>
                  <a:srgbClr val="C9D1D9"/>
                </a:solidFill>
              </a:rPr>
              <a:t>각 기능에 대한 SpecificNode 클래스는 아래와 같은 모습을 가짐</a:t>
            </a:r>
            <a:endParaRPr sz="2000">
              <a:solidFill>
                <a:srgbClr val="C9D1D9"/>
              </a:solidFill>
            </a:endParaRPr>
          </a:p>
          <a:p>
            <a:pPr indent="-342900" lvl="3" marL="1828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SpecificNode: BinaryExpr, GroupExpr, AssignExpr, …</a:t>
            </a:r>
            <a:endParaRPr>
              <a:solidFill>
                <a:srgbClr val="C9D1D9"/>
              </a:solidFill>
            </a:endParaRPr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560" y="3068851"/>
            <a:ext cx="4328475" cy="327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/>
          <p:nvPr/>
        </p:nvSpPr>
        <p:spPr>
          <a:xfrm>
            <a:off x="2629350" y="4587475"/>
            <a:ext cx="3811200" cy="783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2629360" y="3532825"/>
            <a:ext cx="3811200" cy="846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150860" y="3763663"/>
            <a:ext cx="2374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Setter (Parser가 생성)</a:t>
            </a:r>
            <a:endParaRPr sz="15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6" name="Google Shape;106;p15"/>
          <p:cNvCxnSpPr>
            <a:stCxn id="105" idx="1"/>
          </p:cNvCxnSpPr>
          <p:nvPr/>
        </p:nvCxnSpPr>
        <p:spPr>
          <a:xfrm rot="10800000">
            <a:off x="6657960" y="3971413"/>
            <a:ext cx="4929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7" name="Google Shape;107;p15"/>
          <p:cNvSpPr txBox="1"/>
          <p:nvPr/>
        </p:nvSpPr>
        <p:spPr>
          <a:xfrm>
            <a:off x="7150848" y="4797842"/>
            <a:ext cx="344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Getter (Checker, Executor가 사용)</a:t>
            </a:r>
            <a:endParaRPr sz="15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8" name="Google Shape;108;p15"/>
          <p:cNvCxnSpPr>
            <a:stCxn id="107" idx="1"/>
          </p:cNvCxnSpPr>
          <p:nvPr/>
        </p:nvCxnSpPr>
        <p:spPr>
          <a:xfrm rot="10800000">
            <a:off x="6657948" y="5005592"/>
            <a:ext cx="4929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2-2. 기능 구현 - Visitor Pattern</a:t>
            </a:r>
            <a:endParaRPr b="1"/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000"/>
              <a:buChar char="•"/>
            </a:pPr>
            <a:r>
              <a:rPr lang="ko-KR" sz="2400">
                <a:solidFill>
                  <a:srgbClr val="C9D1D9"/>
                </a:solidFill>
              </a:rPr>
              <a:t>Tree 노드 객체의 구조와 수행하는 연산을 분리</a:t>
            </a:r>
            <a:endParaRPr sz="1600">
              <a:solidFill>
                <a:srgbClr val="C9D1D9"/>
              </a:solidFill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000">
                <a:solidFill>
                  <a:srgbClr val="C9D1D9"/>
                </a:solidFill>
              </a:rPr>
              <a:t>새 기능을 추가할 때 노드 클래스 수정 없이 새 visitor만 추가할 수 있음</a:t>
            </a:r>
            <a:endParaRPr sz="2000">
              <a:solidFill>
                <a:srgbClr val="C9D1D9"/>
              </a:solidFill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2000"/>
              <a:buChar char="•"/>
            </a:pPr>
            <a:r>
              <a:rPr lang="ko-KR" sz="2000">
                <a:solidFill>
                  <a:srgbClr val="C9D1D9"/>
                </a:solidFill>
              </a:rPr>
              <a:t>특정 statement 또는 expression에 접근 했을 때의 </a:t>
            </a:r>
            <a:r>
              <a:rPr b="1" lang="ko-KR" sz="2000">
                <a:solidFill>
                  <a:srgbClr val="00E676"/>
                </a:solidFill>
              </a:rPr>
              <a:t>동작을 각각 정의</a:t>
            </a:r>
            <a:r>
              <a:rPr lang="ko-KR" sz="2000">
                <a:solidFill>
                  <a:srgbClr val="C9D1D9"/>
                </a:solidFill>
              </a:rPr>
              <a:t>함</a:t>
            </a:r>
            <a:endParaRPr sz="2000">
              <a:solidFill>
                <a:srgbClr val="C9D1D9"/>
              </a:solidFill>
            </a:endParaRPr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2075" y="2996151"/>
            <a:ext cx="6203399" cy="34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/>
          <p:nvPr/>
        </p:nvSpPr>
        <p:spPr>
          <a:xfrm>
            <a:off x="7034875" y="4465950"/>
            <a:ext cx="1696500" cy="55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9224200" y="4448988"/>
            <a:ext cx="237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 관련 확장 시,</a:t>
            </a:r>
            <a:endParaRPr sz="13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visitor만 추가할 수 있었음</a:t>
            </a:r>
            <a:endParaRPr sz="13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8" name="Google Shape;118;p16"/>
          <p:cNvCxnSpPr>
            <a:stCxn id="117" idx="1"/>
            <a:endCxn id="116" idx="3"/>
          </p:cNvCxnSpPr>
          <p:nvPr/>
        </p:nvCxnSpPr>
        <p:spPr>
          <a:xfrm rot="10800000">
            <a:off x="8731300" y="4741488"/>
            <a:ext cx="4929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2-3. 기능 구현 - Interpreter Pattern</a:t>
            </a:r>
            <a:endParaRPr b="1"/>
          </a:p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000"/>
              <a:buChar char="•"/>
            </a:pPr>
            <a:r>
              <a:rPr lang="ko-KR" sz="2400">
                <a:solidFill>
                  <a:srgbClr val="C9D1D9"/>
                </a:solidFill>
              </a:rPr>
              <a:t>문법을 클래스 계층으로 나누어 </a:t>
            </a:r>
            <a:r>
              <a:rPr b="1" lang="ko-KR" sz="2400">
                <a:solidFill>
                  <a:srgbClr val="00E676"/>
                </a:solidFill>
              </a:rPr>
              <a:t>각 클래스가 해석 및 실행</a:t>
            </a:r>
            <a:endParaRPr b="1" sz="1600">
              <a:solidFill>
                <a:srgbClr val="00E676"/>
              </a:solidFill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000">
                <a:solidFill>
                  <a:srgbClr val="C9D1D9"/>
                </a:solidFill>
              </a:rPr>
              <a:t>하나의 클래스에서 하나의 목적을 가짐</a:t>
            </a:r>
            <a:endParaRPr sz="2000">
              <a:solidFill>
                <a:srgbClr val="C9D1D9"/>
              </a:solidFill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000">
                <a:solidFill>
                  <a:srgbClr val="C9D1D9"/>
                </a:solidFill>
              </a:rPr>
              <a:t>Function과 Array기능 추가 시, 해당 기능들에 대하여 Interpreter pattern으로 구현</a:t>
            </a:r>
            <a:endParaRPr sz="2000">
              <a:solidFill>
                <a:srgbClr val="C9D1D9"/>
              </a:solidFill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9962" y="3082900"/>
            <a:ext cx="6367626" cy="35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2-4. 기능 구현 - Factory + S</a:t>
            </a:r>
            <a:r>
              <a:rPr b="1" lang="ko-KR">
                <a:solidFill>
                  <a:srgbClr val="00E676"/>
                </a:solidFill>
              </a:rPr>
              <a:t>trategy</a:t>
            </a:r>
            <a:r>
              <a:rPr b="1" lang="ko-KR">
                <a:solidFill>
                  <a:srgbClr val="00E676"/>
                </a:solidFill>
              </a:rPr>
              <a:t> Pattern</a:t>
            </a:r>
            <a:endParaRPr b="1"/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605980" y="1243901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E676"/>
              </a:buClr>
              <a:buSzPts val="1400"/>
              <a:buChar char="•"/>
            </a:pPr>
            <a:r>
              <a:rPr b="1" lang="ko-KR" sz="2400">
                <a:solidFill>
                  <a:srgbClr val="00E676"/>
                </a:solidFill>
              </a:rPr>
              <a:t>모드에 따른 동작 호출을 구현</a:t>
            </a:r>
            <a:endParaRPr b="1" sz="2400">
              <a:solidFill>
                <a:srgbClr val="00E676"/>
              </a:solidFill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000">
                <a:solidFill>
                  <a:srgbClr val="C9D1D9"/>
                </a:solidFill>
              </a:rPr>
              <a:t>프롬프트, 파일 입출력, 디버그 기능</a:t>
            </a:r>
            <a:r>
              <a:rPr lang="ko-KR" sz="2000">
                <a:solidFill>
                  <a:srgbClr val="C9D1D9"/>
                </a:solidFill>
              </a:rPr>
              <a:t>을 Factory로 class를 선택</a:t>
            </a:r>
            <a:endParaRPr sz="2000">
              <a:solidFill>
                <a:srgbClr val="C9D1D9"/>
              </a:solidFill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000">
                <a:solidFill>
                  <a:srgbClr val="C9D1D9"/>
                </a:solidFill>
              </a:rPr>
              <a:t>각 class 내의 run()은 동작 알고리즘이 각기 다르지만 </a:t>
            </a:r>
            <a:r>
              <a:rPr b="1" lang="ko-KR" sz="2000">
                <a:solidFill>
                  <a:srgbClr val="00E676"/>
                </a:solidFill>
              </a:rPr>
              <a:t>호출 방식이 같음</a:t>
            </a:r>
            <a:endParaRPr b="1" sz="2000">
              <a:solidFill>
                <a:srgbClr val="00E676"/>
              </a:solidFill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00" y="3113450"/>
            <a:ext cx="4858574" cy="305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149" y="3113459"/>
            <a:ext cx="6926000" cy="128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2-5. 기능 구현 - Command Pattern</a:t>
            </a:r>
            <a:endParaRPr b="1"/>
          </a:p>
        </p:txBody>
      </p:sp>
      <p:sp>
        <p:nvSpPr>
          <p:cNvPr id="139" name="Google Shape;139;p19"/>
          <p:cNvSpPr txBox="1"/>
          <p:nvPr>
            <p:ph idx="1" type="body"/>
          </p:nvPr>
        </p:nvSpPr>
        <p:spPr>
          <a:xfrm>
            <a:off x="605975" y="1243900"/>
            <a:ext cx="107889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400">
                <a:solidFill>
                  <a:srgbClr val="C9D1D9"/>
                </a:solidFill>
              </a:rPr>
              <a:t>디버그 모드를 구현</a:t>
            </a:r>
            <a:endParaRPr sz="2000">
              <a:solidFill>
                <a:srgbClr val="C9D1D9"/>
              </a:solidFill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000">
                <a:solidFill>
                  <a:srgbClr val="C9D1D9"/>
                </a:solidFill>
              </a:rPr>
              <a:t>요청 명령을 객체로 캡슐화함.</a:t>
            </a:r>
            <a:endParaRPr sz="2000">
              <a:solidFill>
                <a:srgbClr val="C9D1D9"/>
              </a:solidFill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b="1" lang="ko-KR" sz="2000">
                <a:solidFill>
                  <a:srgbClr val="00E676"/>
                </a:solidFill>
              </a:rPr>
              <a:t>Command 인터페이스를 통해 명령을 수행</a:t>
            </a:r>
            <a:r>
              <a:rPr lang="ko-KR" sz="2000">
                <a:solidFill>
                  <a:srgbClr val="C9D1D9"/>
                </a:solidFill>
              </a:rPr>
              <a:t>하며, 해당 함수를 call하는 부분에서는 구체적인 내용을 고려할 필요 없음.</a:t>
            </a:r>
            <a:endParaRPr sz="2000">
              <a:solidFill>
                <a:srgbClr val="C9D1D9"/>
              </a:solidFill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074" y="3016871"/>
            <a:ext cx="7515850" cy="356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sz="5000">
                <a:solidFill>
                  <a:srgbClr val="00E676"/>
                </a:solidFill>
              </a:rPr>
              <a:t>Best Practice</a:t>
            </a:r>
            <a:endParaRPr sz="5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3-</a:t>
            </a:r>
            <a:r>
              <a:rPr b="1" lang="ko-KR">
                <a:solidFill>
                  <a:srgbClr val="00E676"/>
                </a:solidFill>
              </a:rPr>
              <a:t>1</a:t>
            </a:r>
            <a:r>
              <a:rPr b="1" lang="ko-KR">
                <a:solidFill>
                  <a:srgbClr val="00E676"/>
                </a:solidFill>
              </a:rPr>
              <a:t>. BP 사례 - Test </a:t>
            </a:r>
            <a:r>
              <a:rPr b="1" lang="ko-KR">
                <a:solidFill>
                  <a:srgbClr val="00E676"/>
                </a:solidFill>
              </a:rPr>
              <a:t>Fixture</a:t>
            </a:r>
            <a:endParaRPr b="1"/>
          </a:p>
        </p:txBody>
      </p:sp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605975" y="1316375"/>
            <a:ext cx="62289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2400"/>
              <a:buChar char="•"/>
            </a:pPr>
            <a:r>
              <a:rPr lang="ko-KR" sz="2400">
                <a:solidFill>
                  <a:srgbClr val="C9D1D9"/>
                </a:solidFill>
              </a:rPr>
              <a:t>Tokenizer</a:t>
            </a:r>
            <a:r>
              <a:rPr lang="ko-KR" sz="2400">
                <a:solidFill>
                  <a:srgbClr val="C9D1D9"/>
                </a:solidFill>
              </a:rPr>
              <a:t>를 Test 하기 위한 Token 생성 코드에 의해 중복 코드가 다수 발생함.</a:t>
            </a:r>
            <a:endParaRPr sz="2400">
              <a:solidFill>
                <a:srgbClr val="C9D1D9"/>
              </a:solidFill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2000"/>
              <a:buChar char="•"/>
            </a:pPr>
            <a:r>
              <a:rPr lang="ko-KR" sz="2000">
                <a:solidFill>
                  <a:srgbClr val="C9D1D9"/>
                </a:solidFill>
              </a:rPr>
              <a:t>[Before] </a:t>
            </a:r>
            <a:r>
              <a:rPr lang="ko-KR" sz="2000">
                <a:solidFill>
                  <a:srgbClr val="C9D1D9"/>
                </a:solidFill>
              </a:rPr>
              <a:t>각 TC 별 tokenize() 호출을 위한 중복된 코드에 의해 test 코드가 길어짐.</a:t>
            </a:r>
            <a:endParaRPr sz="2000">
              <a:solidFill>
                <a:srgbClr val="C9D1D9"/>
              </a:solidFill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2000"/>
              <a:buChar char="•"/>
            </a:pPr>
            <a:r>
              <a:rPr lang="ko-KR" sz="2000">
                <a:solidFill>
                  <a:srgbClr val="C9D1D9"/>
                </a:solidFill>
              </a:rPr>
              <a:t>[</a:t>
            </a:r>
            <a:r>
              <a:rPr lang="ko-KR" sz="20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After</a:t>
            </a:r>
            <a:r>
              <a:rPr lang="ko-KR" sz="2000">
                <a:solidFill>
                  <a:srgbClr val="C9D1D9"/>
                </a:solidFill>
              </a:rPr>
              <a:t>] LexerTestFixture class 에 중복된 코드를 합침으로써 TC 구현 간소화 됨.</a:t>
            </a:r>
            <a:endParaRPr sz="2000">
              <a:solidFill>
                <a:srgbClr val="C9D1D9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9D1D9"/>
              </a:solidFill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2400"/>
              <a:buChar char="•"/>
            </a:pPr>
            <a:r>
              <a:rPr lang="ko-KR" sz="2400">
                <a:solidFill>
                  <a:srgbClr val="C9D1D9"/>
                </a:solidFill>
              </a:rPr>
              <a:t>Fixture </a:t>
            </a:r>
            <a:r>
              <a:rPr lang="ko-KR" sz="2400">
                <a:solidFill>
                  <a:srgbClr val="C9D1D9"/>
                </a:solidFill>
              </a:rPr>
              <a:t>사용으로, </a:t>
            </a:r>
            <a:r>
              <a:rPr b="1" lang="ko-KR" sz="2400">
                <a:solidFill>
                  <a:srgbClr val="00E676"/>
                </a:solidFill>
              </a:rPr>
              <a:t>중복 코드 감소에 의해 code-review 시간이 짧아지고, 유지 보수성도 개선</a:t>
            </a:r>
            <a:r>
              <a:rPr lang="ko-KR" sz="2400">
                <a:solidFill>
                  <a:srgbClr val="C9D1D9"/>
                </a:solidFill>
              </a:rPr>
              <a:t>됨.</a:t>
            </a:r>
            <a:endParaRPr sz="2400">
              <a:solidFill>
                <a:srgbClr val="C9D1D9"/>
              </a:solidFill>
            </a:endParaRPr>
          </a:p>
        </p:txBody>
      </p:sp>
      <p:pic>
        <p:nvPicPr>
          <p:cNvPr id="152" name="Google Shape;15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7902" y="1024855"/>
            <a:ext cx="4285654" cy="559325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/>
          <p:nvPr/>
        </p:nvSpPr>
        <p:spPr>
          <a:xfrm>
            <a:off x="7273948" y="3614470"/>
            <a:ext cx="2769600" cy="2218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3-2. BP 사례 - Code Review</a:t>
            </a:r>
            <a:endParaRPr b="1"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605975" y="1283375"/>
            <a:ext cx="6352200" cy="49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400">
                <a:solidFill>
                  <a:srgbClr val="C9D1D9"/>
                </a:solidFill>
              </a:rPr>
              <a:t>Review 이전의 경우, 같은 함수에 대하여 wrapping하는 함수가 존재함.</a:t>
            </a:r>
            <a:endParaRPr sz="2400">
              <a:solidFill>
                <a:srgbClr val="C9D1D9"/>
              </a:solidFill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000">
                <a:solidFill>
                  <a:srgbClr val="C9D1D9"/>
                </a:solidFill>
              </a:rPr>
              <a:t>[Before] wrapping</a:t>
            </a:r>
            <a:r>
              <a:rPr lang="ko-KR" sz="2000">
                <a:solidFill>
                  <a:srgbClr val="C9D1D9"/>
                </a:solidFill>
              </a:rPr>
              <a:t>형태로 같은 함수가 추가로 선언되어 있었음</a:t>
            </a:r>
            <a:r>
              <a:rPr lang="ko-KR" sz="2000">
                <a:solidFill>
                  <a:srgbClr val="C9D1D9"/>
                </a:solidFill>
              </a:rPr>
              <a:t>.</a:t>
            </a:r>
            <a:endParaRPr sz="2000">
              <a:solidFill>
                <a:srgbClr val="C9D1D9"/>
              </a:solidFill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000">
                <a:solidFill>
                  <a:srgbClr val="C9D1D9"/>
                </a:solidFill>
              </a:rPr>
              <a:t>[</a:t>
            </a:r>
            <a:r>
              <a:rPr lang="ko-KR" sz="20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After</a:t>
            </a:r>
            <a:r>
              <a:rPr lang="ko-KR" sz="2000">
                <a:solidFill>
                  <a:srgbClr val="C9D1D9"/>
                </a:solidFill>
              </a:rPr>
              <a:t>] </a:t>
            </a:r>
            <a:r>
              <a:rPr lang="ko-KR" sz="2000">
                <a:solidFill>
                  <a:srgbClr val="C9D1D9"/>
                </a:solidFill>
              </a:rPr>
              <a:t>함수 parameter에 대하여 default값을 줌으로써, 하나의 함수로 줄임</a:t>
            </a:r>
            <a:endParaRPr sz="2000">
              <a:solidFill>
                <a:srgbClr val="C9D1D9"/>
              </a:solidFill>
            </a:endParaRPr>
          </a:p>
          <a:p>
            <a:pPr indent="-355600" lvl="2" marL="1371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E676"/>
              </a:buClr>
              <a:buSzPts val="2000"/>
              <a:buChar char="•"/>
            </a:pPr>
            <a:r>
              <a:rPr b="1" lang="ko-KR">
                <a:solidFill>
                  <a:srgbClr val="00E676"/>
                </a:solidFill>
              </a:rPr>
              <a:t>[Clean code] 중복 코드 제거</a:t>
            </a:r>
            <a:endParaRPr b="1" sz="2400">
              <a:solidFill>
                <a:srgbClr val="00E676"/>
              </a:solidFill>
            </a:endParaRPr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7575" y="1709464"/>
            <a:ext cx="4826000" cy="4141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/>
          <p:nvPr/>
        </p:nvSpPr>
        <p:spPr>
          <a:xfrm>
            <a:off x="7133475" y="2987025"/>
            <a:ext cx="4669500" cy="1883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3-3. BP 사례 - Code Review</a:t>
            </a:r>
            <a:endParaRPr b="1"/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605978" y="1316375"/>
            <a:ext cx="48345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●"/>
            </a:pPr>
            <a:r>
              <a:rPr lang="ko-KR" sz="2400">
                <a:solidFill>
                  <a:srgbClr val="C9D1D9"/>
                </a:solidFill>
              </a:rPr>
              <a:t>Code Review 이전의 경우, 기능 개발에만 초점을 맞춘 코드를 개발함</a:t>
            </a:r>
            <a:endParaRPr sz="2400">
              <a:solidFill>
                <a:srgbClr val="C9D1D9"/>
              </a:solidFill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2000"/>
              <a:buChar char="○"/>
            </a:pPr>
            <a:r>
              <a:rPr lang="ko-KR" sz="2000">
                <a:solidFill>
                  <a:srgbClr val="C9D1D9"/>
                </a:solidFill>
              </a:rPr>
              <a:t>Shell 모드 option에 대하여, option이 어떤것인지에 대한 코드만 개발</a:t>
            </a:r>
            <a:endParaRPr sz="2000">
              <a:solidFill>
                <a:srgbClr val="C9D1D9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9D1D9"/>
              </a:solidFill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●"/>
            </a:pPr>
            <a:r>
              <a:rPr lang="ko-KR" sz="2400">
                <a:solidFill>
                  <a:srgbClr val="C9D1D9"/>
                </a:solidFill>
              </a:rPr>
              <a:t>Code Review 이 후,</a:t>
            </a:r>
            <a:r>
              <a:rPr b="1" lang="ko-KR" sz="2400">
                <a:solidFill>
                  <a:srgbClr val="00E676"/>
                </a:solidFill>
              </a:rPr>
              <a:t> 사용자의 관점의 Review</a:t>
            </a:r>
            <a:r>
              <a:rPr lang="ko-KR" sz="2400">
                <a:solidFill>
                  <a:srgbClr val="C9D1D9"/>
                </a:solidFill>
              </a:rPr>
              <a:t>로 편의성을 상승시킬 수 있는 수정을 진행함</a:t>
            </a:r>
            <a:endParaRPr sz="2400">
              <a:solidFill>
                <a:srgbClr val="C9D1D9"/>
              </a:solidFill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2000"/>
              <a:buChar char="○"/>
            </a:pPr>
            <a:r>
              <a:rPr lang="ko-KR" sz="2000">
                <a:solidFill>
                  <a:srgbClr val="C9D1D9"/>
                </a:solidFill>
              </a:rPr>
              <a:t>O</a:t>
            </a:r>
            <a:r>
              <a:rPr lang="ko-KR" sz="2000">
                <a:solidFill>
                  <a:srgbClr val="C9D1D9"/>
                </a:solidFill>
              </a:rPr>
              <a:t>ption 입력 시, </a:t>
            </a:r>
            <a:r>
              <a:rPr lang="ko-KR" sz="2000">
                <a:solidFill>
                  <a:srgbClr val="C9D1D9"/>
                </a:solidFill>
              </a:rPr>
              <a:t>유저로 부터 대/ 소문자에 관계없이 입력받게</a:t>
            </a:r>
            <a:r>
              <a:rPr lang="ko-KR" sz="2000">
                <a:solidFill>
                  <a:srgbClr val="C9D1D9"/>
                </a:solidFill>
              </a:rPr>
              <a:t> 하자는 의견 적용</a:t>
            </a:r>
            <a:endParaRPr sz="2000">
              <a:solidFill>
                <a:srgbClr val="C9D1D9"/>
              </a:solidFill>
            </a:endParaRPr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886" y="1316377"/>
            <a:ext cx="6357574" cy="30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2275" y="5051724"/>
            <a:ext cx="4398426" cy="10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/>
          <p:nvPr/>
        </p:nvSpPr>
        <p:spPr>
          <a:xfrm rot="5400000">
            <a:off x="8736063" y="4513090"/>
            <a:ext cx="372600" cy="38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3-4. BP 사례 - </a:t>
            </a:r>
            <a:r>
              <a:rPr b="1" lang="ko-KR">
                <a:solidFill>
                  <a:srgbClr val="00E676"/>
                </a:solidFill>
              </a:rPr>
              <a:t>상세 PR 목적 작성</a:t>
            </a:r>
            <a:endParaRPr b="1"/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605975" y="1316375"/>
            <a:ext cx="63951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400">
                <a:solidFill>
                  <a:srgbClr val="C9D1D9"/>
                </a:solidFill>
              </a:rPr>
              <a:t>코드만으로는 Code 작성자가 어떤 관점으로 무엇을 개발한 것인지 파악하기 어려움.</a:t>
            </a:r>
            <a:endParaRPr sz="2400">
              <a:solidFill>
                <a:srgbClr val="C9D1D9"/>
              </a:solidFill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000">
                <a:solidFill>
                  <a:srgbClr val="C9D1D9"/>
                </a:solidFill>
              </a:rPr>
              <a:t>[</a:t>
            </a:r>
            <a:r>
              <a:rPr lang="ko-KR" sz="2000">
                <a:solidFill>
                  <a:srgbClr val="C9D1D9"/>
                </a:solidFill>
              </a:rPr>
              <a:t>Before]  PR Request </a:t>
            </a:r>
            <a:r>
              <a:rPr lang="ko-KR" sz="2000">
                <a:solidFill>
                  <a:srgbClr val="C9D1D9"/>
                </a:solidFill>
              </a:rPr>
              <a:t>를 올릴 때, PR 목적과 PR 전 Check list 를 Ground Rule 로 정함.</a:t>
            </a:r>
            <a:endParaRPr sz="2000">
              <a:solidFill>
                <a:srgbClr val="C9D1D9"/>
              </a:solidFill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2000"/>
              <a:buChar char="•"/>
            </a:pPr>
            <a:r>
              <a:rPr lang="ko-KR" sz="2000">
                <a:solidFill>
                  <a:srgbClr val="C9D1D9"/>
                </a:solidFill>
              </a:rPr>
              <a:t>[</a:t>
            </a:r>
            <a:r>
              <a:rPr lang="ko-KR" sz="20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After</a:t>
            </a:r>
            <a:r>
              <a:rPr lang="ko-KR" sz="2000">
                <a:solidFill>
                  <a:srgbClr val="C9D1D9"/>
                </a:solidFill>
              </a:rPr>
              <a:t>] Ground Rule </a:t>
            </a:r>
            <a:r>
              <a:rPr lang="ko-KR" sz="2000">
                <a:solidFill>
                  <a:srgbClr val="C9D1D9"/>
                </a:solidFill>
              </a:rPr>
              <a:t>를 성실히 이행함으로써 </a:t>
            </a:r>
            <a:r>
              <a:rPr b="1" lang="ko-KR" sz="2000">
                <a:solidFill>
                  <a:srgbClr val="00E676"/>
                </a:solidFill>
              </a:rPr>
              <a:t>Code-Reviewer 의 review 방향 제시</a:t>
            </a:r>
            <a:r>
              <a:rPr lang="ko-KR" sz="2000">
                <a:solidFill>
                  <a:srgbClr val="C9D1D9"/>
                </a:solidFill>
              </a:rPr>
              <a:t>함.</a:t>
            </a:r>
            <a:endParaRPr sz="2000">
              <a:solidFill>
                <a:srgbClr val="C9D1D9"/>
              </a:solidFill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t/>
            </a:r>
            <a:endParaRPr sz="2400">
              <a:solidFill>
                <a:srgbClr val="C9D1D9"/>
              </a:solidFill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400">
                <a:solidFill>
                  <a:srgbClr val="C9D1D9"/>
                </a:solidFill>
              </a:rPr>
              <a:t>Reviewer</a:t>
            </a:r>
            <a:r>
              <a:rPr lang="ko-KR" sz="2400">
                <a:solidFill>
                  <a:srgbClr val="C9D1D9"/>
                </a:solidFill>
              </a:rPr>
              <a:t>와 PR 작성자 모두 양질의 코드 리뷰를 할 수 있었음.</a:t>
            </a:r>
            <a:endParaRPr sz="2400">
              <a:solidFill>
                <a:srgbClr val="C9D1D9"/>
              </a:solidFill>
            </a:endParaRPr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0075" y="1584875"/>
            <a:ext cx="5099525" cy="41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3-5. BP 사례 - TDD</a:t>
            </a:r>
            <a:endParaRPr b="1"/>
          </a:p>
        </p:txBody>
      </p: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●"/>
            </a:pPr>
            <a:r>
              <a:rPr lang="ko-KR" sz="2400">
                <a:solidFill>
                  <a:srgbClr val="C9D1D9"/>
                </a:solidFill>
              </a:rPr>
              <a:t>visitor pattern사용을 위한 가상화 함수 구현 시, </a:t>
            </a:r>
            <a:r>
              <a:rPr b="1" lang="ko-KR" sz="2400">
                <a:solidFill>
                  <a:srgbClr val="00E676"/>
                </a:solidFill>
              </a:rPr>
              <a:t>TDD 순으로 개발</a:t>
            </a:r>
            <a:r>
              <a:rPr lang="ko-KR" sz="2400">
                <a:solidFill>
                  <a:srgbClr val="C9D1D9"/>
                </a:solidFill>
              </a:rPr>
              <a:t>을 진행 함</a:t>
            </a:r>
            <a:endParaRPr sz="2400">
              <a:solidFill>
                <a:srgbClr val="C9D1D9"/>
              </a:solidFill>
            </a:endParaRPr>
          </a:p>
        </p:txBody>
      </p:sp>
      <p:pic>
        <p:nvPicPr>
          <p:cNvPr id="184" name="Google Shape;18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1062" y="2112203"/>
            <a:ext cx="9369876" cy="4467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25"/>
          <p:cNvCxnSpPr/>
          <p:nvPr/>
        </p:nvCxnSpPr>
        <p:spPr>
          <a:xfrm>
            <a:off x="1566730" y="2502172"/>
            <a:ext cx="5107500" cy="0"/>
          </a:xfrm>
          <a:prstGeom prst="straightConnector1">
            <a:avLst/>
          </a:prstGeom>
          <a:noFill/>
          <a:ln cap="flat" cmpd="sng" w="38100">
            <a:solidFill>
              <a:srgbClr val="00E67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5"/>
          <p:cNvCxnSpPr/>
          <p:nvPr/>
        </p:nvCxnSpPr>
        <p:spPr>
          <a:xfrm>
            <a:off x="1566730" y="3133447"/>
            <a:ext cx="6570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5"/>
          <p:cNvCxnSpPr/>
          <p:nvPr/>
        </p:nvCxnSpPr>
        <p:spPr>
          <a:xfrm>
            <a:off x="1633055" y="4417659"/>
            <a:ext cx="4912200" cy="0"/>
          </a:xfrm>
          <a:prstGeom prst="straightConnector1">
            <a:avLst/>
          </a:prstGeom>
          <a:noFill/>
          <a:ln cap="flat" cmpd="sng" w="38100">
            <a:solidFill>
              <a:srgbClr val="00E67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5"/>
          <p:cNvCxnSpPr/>
          <p:nvPr/>
        </p:nvCxnSpPr>
        <p:spPr>
          <a:xfrm>
            <a:off x="1566730" y="5680209"/>
            <a:ext cx="5079000" cy="0"/>
          </a:xfrm>
          <a:prstGeom prst="straightConnector1">
            <a:avLst/>
          </a:prstGeom>
          <a:noFill/>
          <a:ln cap="flat" cmpd="sng" w="38100">
            <a:solidFill>
              <a:srgbClr val="00E67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1549655" y="6301573"/>
            <a:ext cx="6215100" cy="0"/>
          </a:xfrm>
          <a:prstGeom prst="straightConnector1">
            <a:avLst/>
          </a:prstGeom>
          <a:noFill/>
          <a:ln cap="flat" cmpd="sng" w="38100">
            <a:solidFill>
              <a:srgbClr val="00E67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5"/>
          <p:cNvCxnSpPr/>
          <p:nvPr/>
        </p:nvCxnSpPr>
        <p:spPr>
          <a:xfrm>
            <a:off x="1566730" y="3780272"/>
            <a:ext cx="4763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5"/>
          <p:cNvCxnSpPr/>
          <p:nvPr/>
        </p:nvCxnSpPr>
        <p:spPr>
          <a:xfrm>
            <a:off x="1566730" y="5058822"/>
            <a:ext cx="5021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3-6. BP 사례 - Refactor</a:t>
            </a:r>
            <a:endParaRPr b="1"/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ko-KR" sz="2400">
                <a:solidFill>
                  <a:srgbClr val="C9D1D9"/>
                </a:solidFill>
              </a:rPr>
              <a:t>CheckerUnit에서 Literal value 최적화 부분을 새로운 Class(CheckEvalOperation)로 추출하여 작성함으로써</a:t>
            </a:r>
            <a:r>
              <a:rPr lang="ko-KR" sz="2400">
                <a:solidFill>
                  <a:schemeClr val="lt1"/>
                </a:solidFill>
              </a:rPr>
              <a:t> </a:t>
            </a:r>
            <a:r>
              <a:rPr b="1" lang="ko-KR" sz="2400">
                <a:solidFill>
                  <a:srgbClr val="00E676"/>
                </a:solidFill>
              </a:rPr>
              <a:t>CheckerUnit의 책임을 단일화</a:t>
            </a:r>
            <a:r>
              <a:rPr lang="ko-KR" sz="2400">
                <a:solidFill>
                  <a:schemeClr val="lt1"/>
                </a:solidFill>
              </a:rPr>
              <a:t> </a:t>
            </a:r>
            <a:r>
              <a:rPr lang="ko-KR" sz="2400">
                <a:solidFill>
                  <a:srgbClr val="C9D1D9"/>
                </a:solidFill>
              </a:rPr>
              <a:t>함</a:t>
            </a:r>
            <a:endParaRPr sz="2400">
              <a:solidFill>
                <a:srgbClr val="C9D1D9"/>
              </a:solidFill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2929716" y="3090400"/>
            <a:ext cx="2510700" cy="3242400"/>
          </a:xfrm>
          <a:prstGeom prst="rect">
            <a:avLst/>
          </a:prstGeom>
          <a:solidFill>
            <a:srgbClr val="005AB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CheckerUnit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3058816" y="3750375"/>
            <a:ext cx="2195100" cy="7890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evaluateBinaryCalc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71 line function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3058816" y="4812075"/>
            <a:ext cx="2195100" cy="7890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evaluateUnaryCalc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18 line function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6172225" y="3090400"/>
            <a:ext cx="3945600" cy="3242400"/>
          </a:xfrm>
          <a:prstGeom prst="rect">
            <a:avLst/>
          </a:prstGeom>
          <a:solidFill>
            <a:srgbClr val="005AB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CheckerUnit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6330031" y="3520825"/>
            <a:ext cx="3658500" cy="27234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CheckEvalOperation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6401775" y="4018725"/>
            <a:ext cx="3443400" cy="1467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evaluateBinaryCalc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6401775" y="5601075"/>
            <a:ext cx="3443400" cy="516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evaluateUnaryCalc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5670033" y="4396011"/>
            <a:ext cx="358800" cy="459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631450" y="4438936"/>
            <a:ext cx="2941200" cy="3444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evaluateArithmeticOp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6652875" y="4926853"/>
            <a:ext cx="2941200" cy="3444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/>
          <p:nvPr>
            <p:ph type="title"/>
          </p:nvPr>
        </p:nvSpPr>
        <p:spPr>
          <a:xfrm>
            <a:off x="605980" y="310143"/>
            <a:ext cx="10515600" cy="6498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3-7. BP 사례 - AI</a:t>
            </a:r>
            <a:r>
              <a:rPr b="1" lang="ko-KR">
                <a:solidFill>
                  <a:srgbClr val="00E676"/>
                </a:solidFill>
              </a:rPr>
              <a:t>이용 검증</a:t>
            </a:r>
            <a:endParaRPr b="1"/>
          </a:p>
        </p:txBody>
      </p:sp>
      <p:pic>
        <p:nvPicPr>
          <p:cNvPr id="213" name="Google Shape;21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9403" y="3886467"/>
            <a:ext cx="4926322" cy="50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7"/>
          <p:cNvSpPr txBox="1"/>
          <p:nvPr/>
        </p:nvSpPr>
        <p:spPr>
          <a:xfrm>
            <a:off x="7793069" y="4395599"/>
            <a:ext cx="2919000" cy="38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overflow로 재귀 30번 이상 불가</a:t>
            </a:r>
            <a:endParaRPr b="1" sz="13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5" name="Google Shape;215;p27"/>
          <p:cNvSpPr txBox="1"/>
          <p:nvPr/>
        </p:nvSpPr>
        <p:spPr>
          <a:xfrm>
            <a:off x="7399322" y="5324213"/>
            <a:ext cx="3706500" cy="38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if-else 조건절에 `and`, `or` 연산 시 오류 발생</a:t>
            </a:r>
            <a:endParaRPr b="1" sz="13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6" name="Google Shape;2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7968" y="4815083"/>
            <a:ext cx="4429214" cy="5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7"/>
          <p:cNvPicPr preferRelativeResize="0"/>
          <p:nvPr/>
        </p:nvPicPr>
        <p:blipFill rotWithShape="1">
          <a:blip r:embed="rId5">
            <a:alphaModFix/>
          </a:blip>
          <a:srcRect b="0" l="0" r="4553" t="0"/>
          <a:stretch/>
        </p:blipFill>
        <p:spPr>
          <a:xfrm>
            <a:off x="3271781" y="3913997"/>
            <a:ext cx="2576875" cy="175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9723" y="3965297"/>
            <a:ext cx="154305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/>
          <p:nvPr/>
        </p:nvSpPr>
        <p:spPr>
          <a:xfrm>
            <a:off x="466856" y="5783423"/>
            <a:ext cx="224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직접 작성한 Test Codes</a:t>
            </a:r>
            <a:endParaRPr b="1" sz="13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p27"/>
          <p:cNvSpPr txBox="1"/>
          <p:nvPr/>
        </p:nvSpPr>
        <p:spPr>
          <a:xfrm>
            <a:off x="3115800" y="5783602"/>
            <a:ext cx="3011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Claude가 추가 작성한 Test Codes</a:t>
            </a:r>
            <a:endParaRPr b="1" sz="13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(Pass, error case 분리)</a:t>
            </a:r>
            <a:endParaRPr b="1" sz="13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7746720" y="5758354"/>
            <a:ext cx="3011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실제로 발견해서 오류를 수정한 PR들</a:t>
            </a:r>
            <a:endParaRPr b="1" sz="13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2643522" y="4758497"/>
            <a:ext cx="372600" cy="38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6114969" y="4758485"/>
            <a:ext cx="372600" cy="38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" name="Google Shape;224;p27"/>
          <p:cNvSpPr txBox="1"/>
          <p:nvPr>
            <p:ph idx="1" type="body"/>
          </p:nvPr>
        </p:nvSpPr>
        <p:spPr>
          <a:xfrm>
            <a:off x="605975" y="1316375"/>
            <a:ext cx="110493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400">
                <a:solidFill>
                  <a:srgbClr val="C9D1D9"/>
                </a:solidFill>
              </a:rPr>
              <a:t>C</a:t>
            </a:r>
            <a:r>
              <a:rPr lang="ko-KR" sz="2400">
                <a:solidFill>
                  <a:srgbClr val="C9D1D9"/>
                </a:solidFill>
              </a:rPr>
              <a:t>odeFab Interpreter가 지원하는 문법의 정의 및 사용, 오류 예시가 너무 많아 사람이 모두 파악하기 어려움.</a:t>
            </a:r>
            <a:endParaRPr sz="2400"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 sz="2000">
                <a:solidFill>
                  <a:srgbClr val="C9D1D9"/>
                </a:solidFill>
              </a:rPr>
              <a:t>[Before] 사람이 작성한 Unit test 및 test case는 예측 가능한 동작들만을 검증했음.</a:t>
            </a:r>
            <a:endParaRPr sz="2000">
              <a:solidFill>
                <a:srgbClr val="C9D1D9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400"/>
              <a:buChar char="•"/>
            </a:pPr>
            <a:r>
              <a:rPr lang="ko-KR" sz="2000">
                <a:solidFill>
                  <a:srgbClr val="C9D1D9"/>
                </a:solidFill>
              </a:rPr>
              <a:t>[After] 기존에 정리한 Test 코드, 문법 자료와 함께 프로그램 코드를 input으로 하여 test case를 약 40개 정도 받아냄 </a:t>
            </a:r>
            <a:endParaRPr sz="2000">
              <a:solidFill>
                <a:srgbClr val="C9D1D9"/>
              </a:solidFill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rgbClr val="00E676"/>
                </a:solidFill>
              </a:rPr>
              <a:t>→</a:t>
            </a:r>
            <a:r>
              <a:rPr lang="ko-KR" sz="2000">
                <a:solidFill>
                  <a:srgbClr val="C9D1D9"/>
                </a:solidFill>
              </a:rPr>
              <a:t> </a:t>
            </a:r>
            <a:r>
              <a:rPr b="1" lang="ko-KR" sz="2000">
                <a:solidFill>
                  <a:srgbClr val="00E676"/>
                </a:solidFill>
              </a:rPr>
              <a:t>새로운 오류들을 발견함.</a:t>
            </a:r>
            <a:endParaRPr>
              <a:solidFill>
                <a:srgbClr val="00E676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idx="1" type="body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sz="5000">
                <a:solidFill>
                  <a:srgbClr val="00E676"/>
                </a:solidFill>
              </a:rPr>
              <a:t>프로젝트 시연</a:t>
            </a:r>
            <a:endParaRPr sz="5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>
            <p:ph idx="1" type="body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 sz="5000">
                <a:solidFill>
                  <a:srgbClr val="00E676"/>
                </a:solidFill>
              </a:rPr>
              <a:t>소감</a:t>
            </a:r>
            <a:endParaRPr sz="5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5. 소감</a:t>
            </a:r>
            <a:endParaRPr b="1"/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양진규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TDD </a:t>
            </a:r>
            <a:r>
              <a:rPr lang="ko-KR">
                <a:solidFill>
                  <a:srgbClr val="C9D1D9"/>
                </a:solidFill>
              </a:rPr>
              <a:t>개발론을 직접 수행해보면서, 팀 단위 프로젝트에 대한 개발 방식을 돌아보게 되었습니다.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기존에는 하나의 완성본이 있어야 테스트가 가능하다고 생각을 하였는데, Unit test case 를 구동할 수 있는 기본 환경이 있다면, 각자의 모듈별 개발을 동시에 할 수 있음을 몸소 체감하였습니다.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Code-Review 를 통해 각각의 Module 에서 프로젝트 단위로 이해할 수 있었던 것은 팀원들의 잘 정리된 PR request 덕분이었습니다.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또한 각자의 맡은 바 역할을 성실하고 적극적인 자세로 진행해주신 팀원 분들이 있기에 짧은 시간임에도 프로젝트의 마침표를 찍을 수 있었던 점을 강조하고 싶습니다.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아쉬운 점은 코딩하랴 리뷰하랴 너무 시간이 촉박하였습니다. 이에, 프로젝트 수행 시간을 10일로 늘려야 할 것 같습니다.</a:t>
            </a:r>
            <a:endParaRPr>
              <a:solidFill>
                <a:srgbClr val="C9D1D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5. 소감</a:t>
            </a:r>
            <a:endParaRPr b="1"/>
          </a:p>
        </p:txBody>
      </p:sp>
      <p:sp>
        <p:nvSpPr>
          <p:cNvPr id="246" name="Google Shape;246;p31"/>
          <p:cNvSpPr txBox="1"/>
          <p:nvPr>
            <p:ph idx="1" type="body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김</a:t>
            </a:r>
            <a:r>
              <a:rPr lang="ko-KR">
                <a:solidFill>
                  <a:srgbClr val="C9D1D9"/>
                </a:solidFill>
              </a:rPr>
              <a:t>희수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업무에서 다같이 하나의 프로그램을 개발하는 일이 잘 없다보니 이렇게 git을 이용해서 협업하는 일이 거의 처음이라 서툴렀지만 잘 도와주셔서 마무리할 수 있었습니다.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그리고 프로젝트가 꽤나 촉박하게 진행될 것이라 생각했는데 TDD를 통해 요구사항에 대해 기능을 하나하나 구현하니 생각보다는 빠르게 완성할 수 있었습니다.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그리고 code review를 통해 발견하지 못했던 개선점들을 알 수 있어서 함께하는 개발의 이점을 체감할 수 있었습니다.</a:t>
            </a:r>
            <a:endParaRPr>
              <a:solidFill>
                <a:srgbClr val="C9D1D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5. 소감</a:t>
            </a:r>
            <a:endParaRPr b="1"/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최호석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5일이라는 짧은 기간 동안 TDD 방식으로 개발하고 코드리뷰를 병행하는 것이 처음에는 부담이었습니다.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하지만 유닛 테스트 덕분에 리팩토링을 수월하게 진행할 수 있었습니다.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개발 초기에 팀원들과 협의하여 작성한 interface들을 기반으로 개발함으로써 conflict를 최소화 할 수 있었습니다. 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interface들 및 TDD 방식의 개발까지 더해져 각자 개발한 코드를 합쳤을때도 큰 error없이 동작하는 새로운 경험을 할 수 있었습니다.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코드를 merge하기 전, 팀원들의 꼼꼼한 코드리뷰 덕분에 혼자였다면 놓쳤을 문제들을 잡아낼 수 있었습니다.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마지막으로 짧은 기간이였지만 적극적이고 열심히 참여해주신 팀원분들께 감사합니다.</a:t>
            </a:r>
            <a:endParaRPr>
              <a:solidFill>
                <a:srgbClr val="C9D1D9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None/>
            </a:pPr>
            <a:r>
              <a:rPr b="1" lang="ko-KR">
                <a:solidFill>
                  <a:srgbClr val="00E676"/>
                </a:solidFill>
              </a:rPr>
              <a:t>5. 소감</a:t>
            </a:r>
            <a:endParaRPr b="1"/>
          </a:p>
        </p:txBody>
      </p:sp>
      <p:sp>
        <p:nvSpPr>
          <p:cNvPr id="258" name="Google Shape;258;p33"/>
          <p:cNvSpPr txBox="1"/>
          <p:nvPr>
            <p:ph idx="1" type="body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김희재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입과 전까지는 코드 리뷰를 어떻게 잘 할지 코드 입장에서만 바라보았다면, 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팀 프로젝트하면서 코드 리뷰를 잘하기 위한 전략 (칭찬 + 리뷰내용 + 요청사항) 을 알게되어 부서에 돌아가서도 적용해서 좋은 코드 리뷰 문화를 정착하는데 많은 도움이 될 것 같습니다.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그리고 AI를 접목해서 TDD 관점에서 프로젝트를 진행하며 배운 이론을 적용하고 AI를 어떻게 활용하면 될지 배울 수 있어 좋았습니다. </a:t>
            </a:r>
            <a:endParaRPr>
              <a:solidFill>
                <a:srgbClr val="C9D1D9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D1D9"/>
              </a:buClr>
              <a:buSzPts val="1800"/>
              <a:buChar char="•"/>
            </a:pPr>
            <a:r>
              <a:rPr lang="ko-KR">
                <a:solidFill>
                  <a:srgbClr val="C9D1D9"/>
                </a:solidFill>
              </a:rPr>
              <a:t>무엇보다 Agent 팀원들끼리 협력이 잘 되어 즐겁게 팀 프로젝트 할 수 있었습니다.</a:t>
            </a:r>
            <a:endParaRPr>
              <a:solidFill>
                <a:srgbClr val="C9D1D9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/>
          <p:nvPr>
            <p:ph idx="1" type="body"/>
          </p:nvPr>
        </p:nvSpPr>
        <p:spPr>
          <a:xfrm>
            <a:off x="1632000" y="1860184"/>
            <a:ext cx="8928000" cy="253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>
                <a:solidFill>
                  <a:srgbClr val="00E676"/>
                </a:solidFill>
              </a:rPr>
              <a:t>감사합니다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